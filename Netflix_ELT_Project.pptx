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053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5" r:id="rId6"/>
    <p:sldId id="261" r:id="rId7"/>
    <p:sldId id="260" r:id="rId8"/>
    <p:sldId id="262" r:id="rId9"/>
    <p:sldId id="264" r:id="rId10"/>
    <p:sldId id="263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9" d="100"/>
          <a:sy n="89" d="100"/>
        </p:scale>
        <p:origin x="1282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D4037E-1574-47B8-9FB1-A57B6784C999}" type="datetimeFigureOut">
              <a:rPr lang="en-SG" smtClean="0"/>
              <a:t>4/3/2026</a:t>
            </a:fld>
            <a:endParaRPr lang="en-S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836866-7491-4CE1-B686-B4191B587576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7477428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836866-7491-4CE1-B686-B4191B587576}" type="slidenum">
              <a:rPr lang="en-SG" smtClean="0"/>
              <a:t>9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66191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95760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93659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22618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38788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21533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89220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40661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71986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60963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52061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5249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59260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66125660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167482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810302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75557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75774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54" r:id="rId1"/>
    <p:sldLayoutId id="2147484055" r:id="rId2"/>
    <p:sldLayoutId id="2147484056" r:id="rId3"/>
    <p:sldLayoutId id="2147484057" r:id="rId4"/>
    <p:sldLayoutId id="2147484058" r:id="rId5"/>
    <p:sldLayoutId id="2147484059" r:id="rId6"/>
    <p:sldLayoutId id="2147484060" r:id="rId7"/>
    <p:sldLayoutId id="2147484061" r:id="rId8"/>
    <p:sldLayoutId id="2147484062" r:id="rId9"/>
    <p:sldLayoutId id="2147484063" r:id="rId10"/>
    <p:sldLayoutId id="2147484064" r:id="rId11"/>
    <p:sldLayoutId id="2147484065" r:id="rId12"/>
    <p:sldLayoutId id="2147484066" r:id="rId13"/>
    <p:sldLayoutId id="2147484067" r:id="rId14"/>
    <p:sldLayoutId id="2147484068" r:id="rId15"/>
    <p:sldLayoutId id="214748406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t>Modernizing Content Analytics: Netflix ELT Pipeline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dirty="0"/>
              <a:t>Building a Scalable Star Schema with </a:t>
            </a:r>
            <a:r>
              <a:rPr dirty="0" err="1"/>
              <a:t>dbt</a:t>
            </a:r>
            <a:r>
              <a:rPr dirty="0"/>
              <a:t> and </a:t>
            </a:r>
            <a:r>
              <a:rPr dirty="0" err="1"/>
              <a:t>BigQuery</a:t>
            </a:r>
            <a:endParaRPr dirty="0"/>
          </a:p>
          <a:p>
            <a:r>
              <a:rPr dirty="0"/>
              <a:t>Presented by: Team</a:t>
            </a:r>
            <a:r>
              <a:rPr lang="en-SG" dirty="0"/>
              <a:t> 5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Business Challenge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Current State: Manual handling of netflix_titles.csv</a:t>
            </a:r>
          </a:p>
          <a:p>
            <a:r>
              <a:t>• Data Integrity: Duplicates in show_id skewing metrics.</a:t>
            </a:r>
          </a:p>
          <a:p>
            <a:r>
              <a:t>• Latency: High manual effort for cleaning and formatting.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Technical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ELT Framework (Extract, Load, Transform)</a:t>
            </a:r>
          </a:p>
          <a:p>
            <a:r>
              <a:rPr dirty="0"/>
              <a:t>• Ingestion: Python/Pandas automation to </a:t>
            </a:r>
            <a:r>
              <a:rPr dirty="0" err="1"/>
              <a:t>BigQuery</a:t>
            </a:r>
            <a:r>
              <a:rPr dirty="0"/>
              <a:t>.</a:t>
            </a:r>
          </a:p>
          <a:p>
            <a:r>
              <a:rPr dirty="0"/>
              <a:t>• Compute: Google </a:t>
            </a:r>
            <a:r>
              <a:rPr dirty="0" err="1"/>
              <a:t>BigQuery</a:t>
            </a:r>
            <a:r>
              <a:rPr dirty="0"/>
              <a:t> as the SQL engine.</a:t>
            </a:r>
          </a:p>
          <a:p>
            <a:r>
              <a:rPr dirty="0"/>
              <a:t>• Transformation: </a:t>
            </a:r>
            <a:r>
              <a:rPr dirty="0" err="1"/>
              <a:t>dbt</a:t>
            </a:r>
            <a:r>
              <a:rPr dirty="0"/>
              <a:t> for modular SQL modeling.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Star Schema Evolution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Moving from Flat Files to Relational Models</a:t>
            </a:r>
          </a:p>
          <a:p>
            <a:r>
              <a:t>• Staging Layer: stg_netflix handles deduplication.</a:t>
            </a:r>
          </a:p>
          <a:p>
            <a:r>
              <a:t>• Fact Table: 'movies' (Quantitative data).</a:t>
            </a:r>
          </a:p>
          <a:p>
            <a:r>
              <a:t>• Dimensions: 'dim_directors' and 'dim_locations'.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E117031-6226-1C2D-5711-247C4B36F7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2169447"/>
              </p:ext>
            </p:extLst>
          </p:nvPr>
        </p:nvGraphicFramePr>
        <p:xfrm>
          <a:off x="534838" y="1615425"/>
          <a:ext cx="6728604" cy="3870960"/>
        </p:xfrm>
        <a:graphic>
          <a:graphicData uri="http://schemas.openxmlformats.org/drawingml/2006/table">
            <a:tbl>
              <a:tblPr/>
              <a:tblGrid>
                <a:gridCol w="2242868">
                  <a:extLst>
                    <a:ext uri="{9D8B030D-6E8A-4147-A177-3AD203B41FA5}">
                      <a16:colId xmlns:a16="http://schemas.microsoft.com/office/drawing/2014/main" val="1874312291"/>
                    </a:ext>
                  </a:extLst>
                </a:gridCol>
                <a:gridCol w="2242868">
                  <a:extLst>
                    <a:ext uri="{9D8B030D-6E8A-4147-A177-3AD203B41FA5}">
                      <a16:colId xmlns:a16="http://schemas.microsoft.com/office/drawing/2014/main" val="1709771669"/>
                    </a:ext>
                  </a:extLst>
                </a:gridCol>
                <a:gridCol w="2242868">
                  <a:extLst>
                    <a:ext uri="{9D8B030D-6E8A-4147-A177-3AD203B41FA5}">
                      <a16:colId xmlns:a16="http://schemas.microsoft.com/office/drawing/2014/main" val="2921156008"/>
                    </a:ext>
                  </a:extLst>
                </a:gridCol>
              </a:tblGrid>
              <a:tr h="378581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SG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Step</a:t>
                      </a:r>
                      <a:endParaRPr lang="en-SG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SG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File/Command</a:t>
                      </a:r>
                      <a:endParaRPr lang="en-SG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SG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Outcome</a:t>
                      </a:r>
                      <a:endParaRPr lang="en-SG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6448457"/>
                  </a:ext>
                </a:extLst>
              </a:tr>
              <a:tr h="378581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SG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1. Source</a:t>
                      </a:r>
                      <a:endParaRPr lang="en-SG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SG" dirty="0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netflix_titles.csv</a:t>
                      </a:r>
                      <a:endParaRPr lang="en-SG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SG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Raw Data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9628823"/>
                  </a:ext>
                </a:extLst>
              </a:tr>
              <a:tr h="640676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SG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2. Load</a:t>
                      </a:r>
                      <a:endParaRPr lang="en-SG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dirty="0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python load_to_bigquery.py</a:t>
                      </a:r>
                      <a:endParaRPr lang="en-US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SG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Data in </a:t>
                      </a:r>
                      <a:r>
                        <a:rPr lang="en-SG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raw_source</a:t>
                      </a:r>
                      <a:endParaRPr lang="en-SG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0612541"/>
                  </a:ext>
                </a:extLst>
              </a:tr>
              <a:tr h="640676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SG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3. Clean</a:t>
                      </a:r>
                      <a:endParaRPr lang="en-SG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SG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stg_netflix.sql</a:t>
                      </a:r>
                      <a:endParaRPr lang="en-SG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SG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No Nulls / No Duplicates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8499700"/>
                  </a:ext>
                </a:extLst>
              </a:tr>
              <a:tr h="378581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SG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4. Structure</a:t>
                      </a:r>
                      <a:endParaRPr lang="en-SG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SG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dim_directors.sql</a:t>
                      </a:r>
                      <a:endParaRPr lang="en-SG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SG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Star Schema Created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4641976"/>
                  </a:ext>
                </a:extLst>
              </a:tr>
              <a:tr h="640676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SG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5. Validate</a:t>
                      </a:r>
                      <a:endParaRPr lang="en-SG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SG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dbt test</a:t>
                      </a:r>
                      <a:endParaRPr lang="en-SG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SG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Data Integrity Confirmed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6825481"/>
                  </a:ext>
                </a:extLst>
              </a:tr>
              <a:tr h="640676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SG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6. Insight</a:t>
                      </a:r>
                      <a:endParaRPr lang="en-SG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SG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business_analysis.py</a:t>
                      </a:r>
                      <a:endParaRPr lang="en-SG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SG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Matplotlib Charts Generated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4678936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AFE5DB7B-9C4D-190B-436A-10BC2ACE4200}"/>
              </a:ext>
            </a:extLst>
          </p:cNvPr>
          <p:cNvSpPr/>
          <p:nvPr/>
        </p:nvSpPr>
        <p:spPr>
          <a:xfrm>
            <a:off x="534837" y="740809"/>
            <a:ext cx="2389630" cy="584775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b="0" u="sng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Data Pipeline</a:t>
            </a:r>
          </a:p>
        </p:txBody>
      </p:sp>
    </p:spTree>
    <p:extLst>
      <p:ext uri="{BB962C8B-B14F-4D97-AF65-F5344CB8AC3E}">
        <p14:creationId xmlns:p14="http://schemas.microsoft.com/office/powerpoint/2010/main" val="36401992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F62630F-8F1A-9C90-FBAB-B655FD9396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311" y="1319842"/>
            <a:ext cx="6835775" cy="3735237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91DC6EDB-72CB-4457-280C-8B195C46CFD2}"/>
              </a:ext>
            </a:extLst>
          </p:cNvPr>
          <p:cNvSpPr/>
          <p:nvPr/>
        </p:nvSpPr>
        <p:spPr>
          <a:xfrm>
            <a:off x="620598" y="448422"/>
            <a:ext cx="3761606" cy="584775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b="0" u="sng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Data Pipeline Lineage</a:t>
            </a:r>
          </a:p>
        </p:txBody>
      </p:sp>
    </p:spTree>
    <p:extLst>
      <p:ext uri="{BB962C8B-B14F-4D97-AF65-F5344CB8AC3E}">
        <p14:creationId xmlns:p14="http://schemas.microsoft.com/office/powerpoint/2010/main" val="8802697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Value Proposition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dirty="0"/>
              <a:t>• Operational Efficiency: Automated ingestion reduces manual labor.</a:t>
            </a:r>
          </a:p>
          <a:p>
            <a:r>
              <a:rPr dirty="0"/>
              <a:t>• Cost Optimization: Strategic materialization (Views vs. Tables).</a:t>
            </a:r>
          </a:p>
          <a:p>
            <a:r>
              <a:rPr dirty="0"/>
              <a:t>• Strategic Insights: Mapping regional growth and talent trends.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288736D-F5CC-A6A8-5305-3A3CB66EA3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661" y="1418578"/>
            <a:ext cx="7047781" cy="358939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4D6ECA6F-9765-8AF6-3638-4536EB2FCDF0}"/>
              </a:ext>
            </a:extLst>
          </p:cNvPr>
          <p:cNvSpPr/>
          <p:nvPr/>
        </p:nvSpPr>
        <p:spPr>
          <a:xfrm>
            <a:off x="215661" y="569192"/>
            <a:ext cx="3133615" cy="584775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b="0" u="sng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Business Insight 1</a:t>
            </a:r>
          </a:p>
        </p:txBody>
      </p:sp>
    </p:spTree>
    <p:extLst>
      <p:ext uri="{BB962C8B-B14F-4D97-AF65-F5344CB8AC3E}">
        <p14:creationId xmlns:p14="http://schemas.microsoft.com/office/powerpoint/2010/main" val="41890901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67B032E-6BC3-E98F-12E1-00AEEA024B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2956" y="5100315"/>
            <a:ext cx="3330229" cy="115834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7FE20D3-52F0-3D97-F543-C15A651F30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9770" y="1178515"/>
            <a:ext cx="6934660" cy="3376006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B251F42C-F986-31D6-8078-1055FB38E2A5}"/>
              </a:ext>
            </a:extLst>
          </p:cNvPr>
          <p:cNvSpPr/>
          <p:nvPr/>
        </p:nvSpPr>
        <p:spPr>
          <a:xfrm>
            <a:off x="259770" y="585114"/>
            <a:ext cx="3133615" cy="584775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b="0" u="sng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Business Insight 2</a:t>
            </a:r>
          </a:p>
        </p:txBody>
      </p:sp>
    </p:spTree>
    <p:extLst>
      <p:ext uri="{BB962C8B-B14F-4D97-AF65-F5344CB8AC3E}">
        <p14:creationId xmlns:p14="http://schemas.microsoft.com/office/powerpoint/2010/main" val="17393867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22442E4-3FA9-F172-F6B8-6248B75D44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508" y="1567008"/>
            <a:ext cx="6900118" cy="3723984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D887472F-1456-3D41-ED58-495D5640F871}"/>
              </a:ext>
            </a:extLst>
          </p:cNvPr>
          <p:cNvSpPr/>
          <p:nvPr/>
        </p:nvSpPr>
        <p:spPr>
          <a:xfrm>
            <a:off x="254508" y="646374"/>
            <a:ext cx="3133615" cy="584775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b="0" u="sng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Business Insight 3</a:t>
            </a:r>
          </a:p>
        </p:txBody>
      </p:sp>
    </p:spTree>
    <p:extLst>
      <p:ext uri="{BB962C8B-B14F-4D97-AF65-F5344CB8AC3E}">
        <p14:creationId xmlns:p14="http://schemas.microsoft.com/office/powerpoint/2010/main" val="2028562446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83</TotalTime>
  <Words>265</Words>
  <Application>Microsoft Office PowerPoint</Application>
  <PresentationFormat>On-screen Show (4:3)</PresentationFormat>
  <Paragraphs>49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Google Sans Text</vt:lpstr>
      <vt:lpstr>Trebuchet MS</vt:lpstr>
      <vt:lpstr>Wingdings 3</vt:lpstr>
      <vt:lpstr>Facet</vt:lpstr>
      <vt:lpstr>Modernizing Content Analytics: Netflix ELT Pipeline</vt:lpstr>
      <vt:lpstr>The Business Challenge</vt:lpstr>
      <vt:lpstr>Technical Architecture</vt:lpstr>
      <vt:lpstr>Star Schema Evolution</vt:lpstr>
      <vt:lpstr>PowerPoint Presentation</vt:lpstr>
      <vt:lpstr>PowerPoint Presentation</vt:lpstr>
      <vt:lpstr>Business Value Proposition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Javan Law</dc:creator>
  <cp:keywords/>
  <dc:description>generated using python-pptx</dc:description>
  <cp:lastModifiedBy>Javan Law</cp:lastModifiedBy>
  <cp:revision>8</cp:revision>
  <dcterms:created xsi:type="dcterms:W3CDTF">2013-01-27T09:14:16Z</dcterms:created>
  <dcterms:modified xsi:type="dcterms:W3CDTF">2026-03-04T04:04:04Z</dcterms:modified>
  <cp:category/>
</cp:coreProperties>
</file>